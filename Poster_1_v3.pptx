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</p:sldIdLst>
  <p:sldSz cx="32918400" cy="21945600"/>
  <p:notesSz cx="5800725" cy="9094788"/>
  <p:embeddedFontLst>
    <p:embeddedFont>
      <p:font typeface="Amaranth" panose="02000503050000020004" pitchFamily="2" charset="77"/>
      <p:regular r:id=""/>
      <p:bold r:id=""/>
      <p:italic r:id=""/>
      <p:boldItalic r:id=""/>
    </p:embeddedFont>
    <p:embeddedFont>
      <p:font typeface="Apple Braille" pitchFamily="2" charset="0"/>
      <p:regular r:id="rId3"/>
    </p:embeddedFont>
  </p:embeddedFontLst>
  <p:custDataLst>
    <p:tags r:id="rId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6642" kern="1200">
        <a:solidFill>
          <a:schemeClr val="tx1"/>
        </a:solidFill>
        <a:latin typeface="Arial"/>
        <a:ea typeface="+mn-ea"/>
        <a:cs typeface="+mn-cs"/>
      </a:defRPr>
    </a:lvl1pPr>
    <a:lvl2pPr marL="326532" algn="l" rtl="0" fontAlgn="base">
      <a:spcBef>
        <a:spcPct val="0"/>
      </a:spcBef>
      <a:spcAft>
        <a:spcPct val="0"/>
      </a:spcAft>
      <a:defRPr sz="6642" kern="1200">
        <a:solidFill>
          <a:schemeClr val="tx1"/>
        </a:solidFill>
        <a:latin typeface="Arial"/>
        <a:ea typeface="+mn-ea"/>
        <a:cs typeface="+mn-cs"/>
      </a:defRPr>
    </a:lvl2pPr>
    <a:lvl3pPr marL="653064" algn="l" rtl="0" fontAlgn="base">
      <a:spcBef>
        <a:spcPct val="0"/>
      </a:spcBef>
      <a:spcAft>
        <a:spcPct val="0"/>
      </a:spcAft>
      <a:defRPr sz="6642" kern="1200">
        <a:solidFill>
          <a:schemeClr val="tx1"/>
        </a:solidFill>
        <a:latin typeface="Arial"/>
        <a:ea typeface="+mn-ea"/>
        <a:cs typeface="+mn-cs"/>
      </a:defRPr>
    </a:lvl3pPr>
    <a:lvl4pPr marL="979597" algn="l" rtl="0" fontAlgn="base">
      <a:spcBef>
        <a:spcPct val="0"/>
      </a:spcBef>
      <a:spcAft>
        <a:spcPct val="0"/>
      </a:spcAft>
      <a:defRPr sz="6642" kern="1200">
        <a:solidFill>
          <a:schemeClr val="tx1"/>
        </a:solidFill>
        <a:latin typeface="Arial"/>
        <a:ea typeface="+mn-ea"/>
        <a:cs typeface="+mn-cs"/>
      </a:defRPr>
    </a:lvl4pPr>
    <a:lvl5pPr marL="1306129" algn="l" rtl="0" fontAlgn="base">
      <a:spcBef>
        <a:spcPct val="0"/>
      </a:spcBef>
      <a:spcAft>
        <a:spcPct val="0"/>
      </a:spcAft>
      <a:defRPr sz="6642" kern="1200">
        <a:solidFill>
          <a:schemeClr val="tx1"/>
        </a:solidFill>
        <a:latin typeface="Arial"/>
        <a:ea typeface="+mn-ea"/>
        <a:cs typeface="+mn-cs"/>
      </a:defRPr>
    </a:lvl5pPr>
    <a:lvl6pPr marL="1632661" algn="l" defTabSz="653064" rtl="0" eaLnBrk="1" latinLnBrk="0" hangingPunct="1">
      <a:defRPr sz="6642" kern="1200">
        <a:solidFill>
          <a:schemeClr val="tx1"/>
        </a:solidFill>
        <a:latin typeface="Arial"/>
        <a:ea typeface="+mn-ea"/>
        <a:cs typeface="+mn-cs"/>
      </a:defRPr>
    </a:lvl6pPr>
    <a:lvl7pPr marL="1959193" algn="l" defTabSz="653064" rtl="0" eaLnBrk="1" latinLnBrk="0" hangingPunct="1">
      <a:defRPr sz="6642" kern="1200">
        <a:solidFill>
          <a:schemeClr val="tx1"/>
        </a:solidFill>
        <a:latin typeface="Arial"/>
        <a:ea typeface="+mn-ea"/>
        <a:cs typeface="+mn-cs"/>
      </a:defRPr>
    </a:lvl7pPr>
    <a:lvl8pPr marL="2285726" algn="l" defTabSz="653064" rtl="0" eaLnBrk="1" latinLnBrk="0" hangingPunct="1">
      <a:defRPr sz="6642" kern="1200">
        <a:solidFill>
          <a:schemeClr val="tx1"/>
        </a:solidFill>
        <a:latin typeface="Arial"/>
        <a:ea typeface="+mn-ea"/>
        <a:cs typeface="+mn-cs"/>
      </a:defRPr>
    </a:lvl8pPr>
    <a:lvl9pPr marL="2612258" algn="l" defTabSz="653064" rtl="0" eaLnBrk="1" latinLnBrk="0" hangingPunct="1">
      <a:defRPr sz="6642" kern="1200">
        <a:solidFill>
          <a:schemeClr val="tx1"/>
        </a:solidFill>
        <a:latin typeface="Arial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103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D3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968" y="-2520"/>
      </p:cViewPr>
      <p:guideLst>
        <p:guide orient="horz" pos="6912"/>
        <p:guide pos="1036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9356" y="6817784"/>
            <a:ext cx="27979688" cy="4703233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523" y="12435417"/>
            <a:ext cx="23043356" cy="5609167"/>
          </a:xfrm>
        </p:spPr>
        <p:txBody>
          <a:bodyPr/>
          <a:lstStyle>
            <a:defPPr>
              <a:defRPr kern="1200"/>
            </a:defPPr>
            <a:lvl1pPr marL="0" indent="0" algn="ctr">
              <a:buNone/>
              <a:defRPr/>
            </a:lvl1pPr>
            <a:lvl2pPr marL="304815" indent="0" algn="ctr">
              <a:buNone/>
              <a:defRPr/>
            </a:lvl2pPr>
            <a:lvl3pPr marL="609630" indent="0" algn="ctr">
              <a:buNone/>
              <a:defRPr/>
            </a:lvl3pPr>
            <a:lvl4pPr marL="914446" indent="0" algn="ctr">
              <a:buNone/>
              <a:defRPr/>
            </a:lvl4pPr>
            <a:lvl5pPr marL="1219261" indent="0" algn="ctr">
              <a:buNone/>
              <a:defRPr/>
            </a:lvl5pPr>
            <a:lvl6pPr marL="1524076" indent="0" algn="ctr">
              <a:buNone/>
              <a:defRPr/>
            </a:lvl6pPr>
            <a:lvl7pPr marL="1828891" indent="0" algn="ctr">
              <a:buNone/>
              <a:defRPr/>
            </a:lvl7pPr>
            <a:lvl8pPr marL="2133707" indent="0" algn="ctr">
              <a:buNone/>
              <a:defRPr/>
            </a:lvl8pPr>
            <a:lvl9pPr marL="2438522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9E44D62-E9B9-4A1F-9D60-78A1B8BD21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12747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D772C493-C7EB-4BEF-9EB3-C72AA1A173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92216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5" y="14102293"/>
            <a:ext cx="27980878" cy="4358217"/>
          </a:xfrm>
        </p:spPr>
        <p:txBody>
          <a:bodyPr anchor="t"/>
          <a:lstStyle>
            <a:defPPr>
              <a:defRPr kern="1200"/>
            </a:defPPr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5" y="9301692"/>
            <a:ext cx="27980878" cy="4800600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333"/>
            </a:lvl1pPr>
            <a:lvl2pPr marL="304815" indent="0">
              <a:buNone/>
              <a:defRPr sz="1200"/>
            </a:lvl2pPr>
            <a:lvl3pPr marL="609630" indent="0">
              <a:buNone/>
              <a:defRPr sz="1067"/>
            </a:lvl3pPr>
            <a:lvl4pPr marL="914446" indent="0">
              <a:buNone/>
              <a:defRPr sz="933"/>
            </a:lvl4pPr>
            <a:lvl5pPr marL="1219261" indent="0">
              <a:buNone/>
              <a:defRPr sz="933"/>
            </a:lvl5pPr>
            <a:lvl6pPr marL="1524076" indent="0">
              <a:buNone/>
              <a:defRPr sz="933"/>
            </a:lvl6pPr>
            <a:lvl7pPr marL="1828891" indent="0">
              <a:buNone/>
              <a:defRPr sz="933"/>
            </a:lvl7pPr>
            <a:lvl8pPr marL="2133707" indent="0">
              <a:buNone/>
              <a:defRPr sz="933"/>
            </a:lvl8pPr>
            <a:lvl9pPr marL="2438522" indent="0">
              <a:buNone/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3239EF23-2AC5-4B50-8C9E-5F8D49668A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2582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444" y="5120217"/>
            <a:ext cx="14756606" cy="14483293"/>
          </a:xfrm>
        </p:spPr>
        <p:txBody>
          <a:bodyPr/>
          <a:lstStyle>
            <a:defPPr>
              <a:defRPr kern="1200"/>
            </a:defPPr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16352" y="5120217"/>
            <a:ext cx="14756606" cy="14483293"/>
          </a:xfrm>
        </p:spPr>
        <p:txBody>
          <a:bodyPr/>
          <a:lstStyle>
            <a:defPPr>
              <a:defRPr kern="1200"/>
            </a:defPPr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BBD8762-0F6F-41F2-8E1E-C5EF6CE7FF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9722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444" y="4912784"/>
            <a:ext cx="14544675" cy="2046817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444" y="6959600"/>
            <a:ext cx="14544675" cy="12643908"/>
          </a:xfrm>
        </p:spPr>
        <p:txBody>
          <a:bodyPr/>
          <a:lstStyle>
            <a:defPPr>
              <a:defRPr kern="1200"/>
            </a:defPPr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328" y="4912784"/>
            <a:ext cx="14550630" cy="2046817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328" y="6959600"/>
            <a:ext cx="14550630" cy="12643908"/>
          </a:xfrm>
        </p:spPr>
        <p:txBody>
          <a:bodyPr/>
          <a:lstStyle>
            <a:defPPr>
              <a:defRPr kern="1200"/>
            </a:defPPr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C245EB89-E1F0-4213-BFCF-D6A06A13C4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35668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F9249905-9305-4041-8B60-8DE0824E81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81219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97C76933-D99D-4DC1-BD09-1072CC92B2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49367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4" y="874184"/>
            <a:ext cx="10829925" cy="3717925"/>
          </a:xfrm>
        </p:spPr>
        <p:txBody>
          <a:bodyPr anchor="b"/>
          <a:lstStyle>
            <a:defPPr>
              <a:defRPr kern="1200"/>
            </a:defPPr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656" y="874184"/>
            <a:ext cx="18402300" cy="18729325"/>
          </a:xfrm>
        </p:spPr>
        <p:txBody>
          <a:bodyPr/>
          <a:lstStyle>
            <a:defPPr>
              <a:defRPr kern="1200"/>
            </a:defPPr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444" y="4592109"/>
            <a:ext cx="10829925" cy="15011400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F6A5529-8465-4E7D-9DB8-D374C51CD7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111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997" y="15361709"/>
            <a:ext cx="19751280" cy="1813983"/>
          </a:xfrm>
        </p:spPr>
        <p:txBody>
          <a:bodyPr anchor="b"/>
          <a:lstStyle>
            <a:defPPr>
              <a:defRPr kern="1200"/>
            </a:defPPr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1997" y="1961092"/>
            <a:ext cx="19751280" cy="13166725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1997" y="17175693"/>
            <a:ext cx="19751280" cy="2574925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3C022C6C-C3BF-4CE1-8842-0AC5970173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1050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8A277C51-0625-40F0-8A02-D153CC2D70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5903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866080" y="878417"/>
            <a:ext cx="7406878" cy="18725093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444" y="878417"/>
            <a:ext cx="22106334" cy="18725093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C9A1A37-7051-412A-8F35-8483CD8F48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170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45444" y="878417"/>
            <a:ext cx="29627512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ctr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45444" y="5120217"/>
            <a:ext cx="29627512" cy="14483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45444" y="19984507"/>
            <a:ext cx="768191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3134940">
              <a:defRPr sz="48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246644" y="19984507"/>
            <a:ext cx="1042511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ctr" defTabSz="3134940">
              <a:defRPr sz="48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591044" y="19984507"/>
            <a:ext cx="768191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3134940">
              <a:defRPr sz="4800" smtClean="0">
                <a:latin typeface="Arial" pitchFamily="34" charset="0"/>
              </a:defRPr>
            </a:lvl1pPr>
          </a:lstStyle>
          <a:p>
            <a:pPr>
              <a:defRPr/>
            </a:pPr>
            <a:fld id="{25043CB6-A91D-4176-912B-555F54C38C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11074400" y="10972800"/>
            <a:ext cx="14274800" cy="3937000"/>
          </a:xfrm>
          <a:prstGeom prst="rect">
            <a:avLst/>
          </a:prstGeom>
        </p:spPr>
      </p:pic>
      <p:pic>
        <p:nvPicPr>
          <p:cNvPr id="1032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29718000" y="10972800"/>
            <a:ext cx="14274800" cy="3937000"/>
          </a:xfrm>
          <a:prstGeom prst="rect">
            <a:avLst/>
          </a:prstGeom>
        </p:spPr>
      </p:pic>
      <p:pic>
        <p:nvPicPr>
          <p:cNvPr id="1033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1460500" y="22453600"/>
            <a:ext cx="29997400" cy="1447800"/>
          </a:xfrm>
          <a:prstGeom prst="rect">
            <a:avLst/>
          </a:prstGeom>
        </p:spPr>
      </p:pic>
      <p:sp>
        <p:nvSpPr>
          <p:cNvPr id="1034" name="New shape"/>
          <p:cNvSpPr/>
          <p:nvPr/>
        </p:nvSpPr>
        <p:spPr>
          <a:xfrm>
            <a:off x="1460500" y="23025100"/>
            <a:ext cx="164592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>
                <a:solidFill>
                  <a:srgbClr val="808080"/>
                </a:solidFill>
              </a:rPr>
              <a:t>Template ID: conceptualizingcobalt  Size: 36x24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defPPr>
        <a:defRPr kern="1200"/>
      </a:defPPr>
      <a:lvl1pPr algn="ctr" defTabSz="3134940" rtl="0" eaLnBrk="0" fontAlgn="base" hangingPunct="0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+mj-lt"/>
          <a:ea typeface="+mj-ea"/>
          <a:cs typeface="+mj-cs"/>
        </a:defRPr>
      </a:lvl1pPr>
      <a:lvl2pPr algn="ctr" defTabSz="3134940" rtl="0" eaLnBrk="0" fontAlgn="base" hangingPunct="0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2pPr>
      <a:lvl3pPr algn="ctr" defTabSz="3134940" rtl="0" eaLnBrk="0" fontAlgn="base" hangingPunct="0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3pPr>
      <a:lvl4pPr algn="ctr" defTabSz="3134940" rtl="0" eaLnBrk="0" fontAlgn="base" hangingPunct="0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4pPr>
      <a:lvl5pPr algn="ctr" defTabSz="3134940" rtl="0" eaLnBrk="0" fontAlgn="base" hangingPunct="0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5pPr>
      <a:lvl6pPr marL="304815" algn="ctr" defTabSz="3134940" rtl="0" fontAlgn="base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6pPr>
      <a:lvl7pPr marL="609630" algn="ctr" defTabSz="3134940" rtl="0" fontAlgn="base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7pPr>
      <a:lvl8pPr marL="914446" algn="ctr" defTabSz="3134940" rtl="0" fontAlgn="base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8pPr>
      <a:lvl9pPr marL="1219261" algn="ctr" defTabSz="3134940" rtl="0" fontAlgn="base">
        <a:spcBef>
          <a:spcPct val="0"/>
        </a:spcBef>
        <a:spcAft>
          <a:spcPct val="0"/>
        </a:spcAft>
        <a:defRPr sz="15067">
          <a:solidFill>
            <a:schemeClr val="tx2"/>
          </a:solidFill>
          <a:latin typeface="Arial" pitchFamily="34" charset="0"/>
        </a:defRPr>
      </a:lvl9pPr>
    </p:titleStyle>
    <p:bodyStyle>
      <a:defPPr>
        <a:defRPr kern="1200"/>
      </a:defPPr>
      <a:lvl1pPr marL="1175867" indent="-1175867" algn="l" defTabSz="3134940" rtl="0" eaLnBrk="0" fontAlgn="base" hangingPunct="0">
        <a:spcBef>
          <a:spcPct val="20000"/>
        </a:spcBef>
        <a:spcAft>
          <a:spcPct val="0"/>
        </a:spcAft>
        <a:buChar char="•"/>
        <a:defRPr sz="11001">
          <a:solidFill>
            <a:schemeClr val="tx1"/>
          </a:solidFill>
          <a:latin typeface="+mn-lt"/>
          <a:ea typeface="+mn-ea"/>
          <a:cs typeface="+mn-cs"/>
        </a:defRPr>
      </a:lvl1pPr>
      <a:lvl2pPr marL="2547536" indent="-980066" algn="l" defTabSz="3134940" rtl="0" eaLnBrk="0" fontAlgn="base" hangingPunct="0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</a:defRPr>
      </a:lvl2pPr>
      <a:lvl3pPr marL="3919205" indent="-784265" algn="l" defTabSz="3134940" rtl="0" eaLnBrk="0" fontAlgn="base" hangingPunct="0">
        <a:spcBef>
          <a:spcPct val="20000"/>
        </a:spcBef>
        <a:spcAft>
          <a:spcPct val="0"/>
        </a:spcAft>
        <a:buChar char="•"/>
        <a:defRPr sz="8200">
          <a:solidFill>
            <a:schemeClr val="tx1"/>
          </a:solidFill>
          <a:latin typeface="+mn-lt"/>
        </a:defRPr>
      </a:lvl3pPr>
      <a:lvl4pPr marL="5486674" indent="-784265" algn="l" defTabSz="3134940" rtl="0" eaLnBrk="0" fontAlgn="base" hangingPunct="0">
        <a:spcBef>
          <a:spcPct val="20000"/>
        </a:spcBef>
        <a:spcAft>
          <a:spcPct val="0"/>
        </a:spcAft>
        <a:buChar char="–"/>
        <a:defRPr sz="6867">
          <a:solidFill>
            <a:schemeClr val="tx1"/>
          </a:solidFill>
          <a:latin typeface="+mn-lt"/>
        </a:defRPr>
      </a:lvl4pPr>
      <a:lvl5pPr marL="7054145" indent="-783206" algn="l" defTabSz="3134940" rtl="0" eaLnBrk="0" fontAlgn="base" hangingPunct="0">
        <a:spcBef>
          <a:spcPct val="20000"/>
        </a:spcBef>
        <a:spcAft>
          <a:spcPct val="0"/>
        </a:spcAft>
        <a:buChar char="»"/>
        <a:defRPr sz="6867">
          <a:solidFill>
            <a:schemeClr val="tx1"/>
          </a:solidFill>
          <a:latin typeface="+mn-lt"/>
        </a:defRPr>
      </a:lvl5pPr>
      <a:lvl6pPr marL="7358960" indent="-783206" algn="l" defTabSz="3134940" rtl="0" fontAlgn="base">
        <a:spcBef>
          <a:spcPct val="20000"/>
        </a:spcBef>
        <a:spcAft>
          <a:spcPct val="0"/>
        </a:spcAft>
        <a:buChar char="»"/>
        <a:defRPr sz="6867">
          <a:solidFill>
            <a:schemeClr val="tx1"/>
          </a:solidFill>
          <a:latin typeface="+mn-lt"/>
        </a:defRPr>
      </a:lvl6pPr>
      <a:lvl7pPr marL="7663775" indent="-783206" algn="l" defTabSz="3134940" rtl="0" fontAlgn="base">
        <a:spcBef>
          <a:spcPct val="20000"/>
        </a:spcBef>
        <a:spcAft>
          <a:spcPct val="0"/>
        </a:spcAft>
        <a:buChar char="»"/>
        <a:defRPr sz="6867">
          <a:solidFill>
            <a:schemeClr val="tx1"/>
          </a:solidFill>
          <a:latin typeface="+mn-lt"/>
        </a:defRPr>
      </a:lvl7pPr>
      <a:lvl8pPr marL="7968590" indent="-783206" algn="l" defTabSz="3134940" rtl="0" fontAlgn="base">
        <a:spcBef>
          <a:spcPct val="20000"/>
        </a:spcBef>
        <a:spcAft>
          <a:spcPct val="0"/>
        </a:spcAft>
        <a:buChar char="»"/>
        <a:defRPr sz="6867">
          <a:solidFill>
            <a:schemeClr val="tx1"/>
          </a:solidFill>
          <a:latin typeface="+mn-lt"/>
        </a:defRPr>
      </a:lvl8pPr>
      <a:lvl9pPr marL="8273406" indent="-783206" algn="l" defTabSz="3134940" rtl="0" fontAlgn="base">
        <a:spcBef>
          <a:spcPct val="20000"/>
        </a:spcBef>
        <a:spcAft>
          <a:spcPct val="0"/>
        </a:spcAft>
        <a:buChar char="»"/>
        <a:defRPr sz="68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1E0E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8884466-570A-9DB7-ED55-7DCE88D8205C}"/>
              </a:ext>
            </a:extLst>
          </p:cNvPr>
          <p:cNvSpPr/>
          <p:nvPr/>
        </p:nvSpPr>
        <p:spPr bwMode="auto">
          <a:xfrm>
            <a:off x="-46145" y="9376373"/>
            <a:ext cx="13198043" cy="726428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2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218" name="Picture 217" descr="A diagram of a computer process&#10;&#10;AI-generated content may be incorrect.">
            <a:extLst>
              <a:ext uri="{FF2B5EF4-FFF2-40B4-BE49-F238E27FC236}">
                <a16:creationId xmlns:a16="http://schemas.microsoft.com/office/drawing/2014/main" id="{616BE930-CE65-1CDA-9CCA-3B1EFD5020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601" y="9518257"/>
            <a:ext cx="11267884" cy="7127592"/>
          </a:xfrm>
          <a:prstGeom prst="rect">
            <a:avLst/>
          </a:prstGeom>
        </p:spPr>
      </p:pic>
      <p:sp>
        <p:nvSpPr>
          <p:cNvPr id="212" name="Rectangle 5">
            <a:extLst>
              <a:ext uri="{FF2B5EF4-FFF2-40B4-BE49-F238E27FC236}">
                <a16:creationId xmlns:a16="http://schemas.microsoft.com/office/drawing/2014/main" id="{34C77C45-B70B-2BC5-DBC4-85C51B8E6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6898" y="16962864"/>
            <a:ext cx="4800798" cy="4084848"/>
          </a:xfrm>
          <a:prstGeom prst="roundRect">
            <a:avLst>
              <a:gd name="adj" fmla="val 1380"/>
            </a:avLst>
          </a:prstGeom>
          <a:solidFill>
            <a:srgbClr val="B4D3E2">
              <a:alpha val="29020"/>
            </a:srgbClr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defTabSz="3135999"/>
            <a:endParaRPr lang="en-US" sz="2400" dirty="0">
              <a:noFill/>
              <a:latin typeface="Amaranth" panose="02000503050000020004" pitchFamily="2" charset="0"/>
            </a:endParaRPr>
          </a:p>
        </p:txBody>
      </p:sp>
      <p:sp>
        <p:nvSpPr>
          <p:cNvPr id="32" name="Rectangle 27"/>
          <p:cNvSpPr>
            <a:spLocks noChangeArrowheads="1"/>
          </p:cNvSpPr>
          <p:nvPr/>
        </p:nvSpPr>
        <p:spPr bwMode="auto">
          <a:xfrm>
            <a:off x="-32329" y="453986"/>
            <a:ext cx="32950730" cy="3950084"/>
          </a:xfrm>
          <a:prstGeom prst="rect">
            <a:avLst/>
          </a:prstGeom>
          <a:gradFill>
            <a:gsLst>
              <a:gs pos="5000">
                <a:srgbClr val="235078"/>
              </a:gs>
              <a:gs pos="100000">
                <a:srgbClr val="1482A5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defPPr>
              <a:defRPr kern="1200"/>
            </a:defPPr>
          </a:lstStyle>
          <a:p>
            <a:endParaRPr lang="en-US" sz="4428" dirty="0">
              <a:latin typeface="Apple Braille" pitchFamily="2" charset="0"/>
            </a:endParaRPr>
          </a:p>
        </p:txBody>
      </p:sp>
      <p:sp>
        <p:nvSpPr>
          <p:cNvPr id="31" name="Title 11">
            <a:extLst>
              <a:ext uri="{FF2B5EF4-FFF2-40B4-BE49-F238E27FC236}">
                <a16:creationId xmlns:a16="http://schemas.microsoft.com/office/drawing/2014/main" id="{A3F6428D-1FA6-42BA-BAEA-3577E1620F6B}"/>
              </a:ext>
            </a:extLst>
          </p:cNvPr>
          <p:cNvSpPr txBox="1"/>
          <p:nvPr/>
        </p:nvSpPr>
        <p:spPr>
          <a:xfrm>
            <a:off x="714408" y="806358"/>
            <a:ext cx="27432000" cy="1831290"/>
          </a:xfrm>
          <a:prstGeom prst="rect">
            <a:avLst/>
          </a:prstGeom>
        </p:spPr>
        <p:txBody>
          <a:bodyPr lIns="85344" tIns="42672" rIns="85344" bIns="42672"/>
          <a:lstStyle>
            <a:defPPr>
              <a:defRPr kern="1200"/>
            </a:defPPr>
            <a:lvl1pPr algn="ctr" defTabSz="4389028" rtl="0" eaLnBrk="1" latinLnBrk="0" hangingPunct="1">
              <a:spcBef>
                <a:spcPct val="0"/>
              </a:spcBef>
              <a:buNone/>
              <a:defRPr sz="13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Music to Animal Sounds:</a:t>
            </a:r>
          </a:p>
          <a:p>
            <a:pPr algn="l"/>
            <a:r>
              <a:rPr lang="en-US" sz="5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with the Pretrained YAMNet Model</a:t>
            </a:r>
          </a:p>
        </p:txBody>
      </p:sp>
      <p:sp>
        <p:nvSpPr>
          <p:cNvPr id="35" name="Text Placeholder 16">
            <a:extLst>
              <a:ext uri="{FF2B5EF4-FFF2-40B4-BE49-F238E27FC236}">
                <a16:creationId xmlns:a16="http://schemas.microsoft.com/office/drawing/2014/main" id="{30C08963-BE29-4B96-B122-F15F02A3F7E3}"/>
              </a:ext>
            </a:extLst>
          </p:cNvPr>
          <p:cNvSpPr txBox="1"/>
          <p:nvPr/>
        </p:nvSpPr>
        <p:spPr>
          <a:xfrm>
            <a:off x="714408" y="2778380"/>
            <a:ext cx="27432000" cy="1338828"/>
          </a:xfrm>
          <a:prstGeom prst="rect">
            <a:avLst/>
          </a:prstGeom>
        </p:spPr>
        <p:txBody>
          <a:bodyPr lIns="85344" tIns="42672" rIns="85344" bIns="42672">
            <a:spAutoFit/>
          </a:bodyPr>
          <a:lstStyle>
            <a:defPPr>
              <a:defRPr kern="1200"/>
            </a:defPPr>
            <a:lvl1pPr marL="0" indent="0" algn="l" defTabSz="4389028" rtl="0" eaLnBrk="1" latinLnBrk="0" hangingPunct="1">
              <a:spcBef>
                <a:spcPct val="20000"/>
              </a:spcBef>
              <a:buFont typeface="Arial" pitchFamily="34" charset="0"/>
              <a:buNone/>
              <a:defRPr sz="13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086" indent="-1371572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286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800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314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828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342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857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371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Oyku Cildir and Claudia Martinez</a:t>
            </a:r>
          </a:p>
          <a:p>
            <a:r>
              <a:rPr lang="en-US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HEC Montréal </a:t>
            </a: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-32329" y="4286251"/>
            <a:ext cx="13082832" cy="4599198"/>
          </a:xfrm>
          <a:prstGeom prst="roundRect">
            <a:avLst>
              <a:gd name="adj" fmla="val 1380"/>
            </a:avLst>
          </a:prstGeom>
          <a:solidFill>
            <a:srgbClr val="B4D3E2">
              <a:alpha val="29020"/>
            </a:srgbClr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defTabSz="3135999"/>
            <a:endParaRPr lang="en-US" sz="2400" dirty="0">
              <a:noFill/>
              <a:latin typeface="Amaranth" panose="02000503050000020004" pitchFamily="2" charset="0"/>
            </a:endParaRP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98FCC399-CA5D-4873-B45E-22BAE0F51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2206" y="8768139"/>
            <a:ext cx="13092836" cy="710631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algn="ctr" defTabSz="3135999"/>
            <a:r>
              <a:rPr lang="en-US" sz="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AD2E301E-E7B3-4BB5-B48D-F76D6F65BBE3}"/>
              </a:ext>
            </a:extLst>
          </p:cNvPr>
          <p:cNvSpPr txBox="1"/>
          <p:nvPr/>
        </p:nvSpPr>
        <p:spPr>
          <a:xfrm>
            <a:off x="82973" y="17392609"/>
            <a:ext cx="64078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CA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GTZAN – Music Genres</a:t>
            </a:r>
          </a:p>
          <a:p>
            <a:r>
              <a:rPr lang="en-C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1,000 audio clips, 10 genres, 30 sec per clip. Used as the </a:t>
            </a:r>
            <a:r>
              <a:rPr lang="en-CA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domain</a:t>
            </a:r>
            <a:r>
              <a:rPr lang="en-C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zero-shot &amp; few-shot transfer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2C6E9F3E-3183-4639-8BD4-4D30DDD1A58D}"/>
              </a:ext>
            </a:extLst>
          </p:cNvPr>
          <p:cNvSpPr txBox="1"/>
          <p:nvPr/>
        </p:nvSpPr>
        <p:spPr>
          <a:xfrm>
            <a:off x="19177" y="5045515"/>
            <a:ext cx="129427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algn="just"/>
            <a:r>
              <a:rPr lang="en-C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</a:t>
            </a:r>
            <a:r>
              <a:rPr lang="en-CA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sound recognition systems still struggle with animal vocalizations</a:t>
            </a:r>
            <a:r>
              <a:rPr lang="en-C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Building custom deep networks requires more data than most field recordings provide, models either overfit or ignore rare classes.</a:t>
            </a:r>
            <a:endParaRPr lang="en-US" sz="3000" b="1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blue and green lines&#10;&#10;AI-generated content may be incorrect.">
            <a:extLst>
              <a:ext uri="{FF2B5EF4-FFF2-40B4-BE49-F238E27FC236}">
                <a16:creationId xmlns:a16="http://schemas.microsoft.com/office/drawing/2014/main" id="{B4142693-CA41-9B25-80FA-F9F72987880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0751" y="21131557"/>
            <a:ext cx="33819152" cy="814042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78713D4B-C024-931C-5888-70C85A59EB62}"/>
              </a:ext>
            </a:extLst>
          </p:cNvPr>
          <p:cNvSpPr txBox="1"/>
          <p:nvPr/>
        </p:nvSpPr>
        <p:spPr>
          <a:xfrm>
            <a:off x="6490543" y="17403001"/>
            <a:ext cx="67440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ESC-50 – Environmental Sounds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2,000 clips, 50 animal and nature classes,  5 sec per clip. Used as the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domain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few-shot &amp; full fine-tuning</a:t>
            </a:r>
          </a:p>
        </p:txBody>
      </p:sp>
      <p:pic>
        <p:nvPicPr>
          <p:cNvPr id="213" name="Picture 212" descr="A chart with text and numbers&#10;&#10;AI-generated content may be incorrect.">
            <a:extLst>
              <a:ext uri="{FF2B5EF4-FFF2-40B4-BE49-F238E27FC236}">
                <a16:creationId xmlns:a16="http://schemas.microsoft.com/office/drawing/2014/main" id="{D5DE1558-D132-D4BA-E7C8-787EBB0D65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7" t="16692" r="7154" b="9568"/>
          <a:stretch>
            <a:fillRect/>
          </a:stretch>
        </p:blipFill>
        <p:spPr>
          <a:xfrm>
            <a:off x="13234615" y="17201935"/>
            <a:ext cx="6223457" cy="3483784"/>
          </a:xfrm>
          <a:prstGeom prst="rect">
            <a:avLst/>
          </a:prstGeom>
        </p:spPr>
      </p:pic>
      <p:sp>
        <p:nvSpPr>
          <p:cNvPr id="38" name="Rectangle 5">
            <a:extLst>
              <a:ext uri="{FF2B5EF4-FFF2-40B4-BE49-F238E27FC236}">
                <a16:creationId xmlns:a16="http://schemas.microsoft.com/office/drawing/2014/main" id="{991B9DF0-7DD4-4C17-94B6-6C493D1C3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35828" y="8757477"/>
            <a:ext cx="11267884" cy="715124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algn="ctr" defTabSz="3135999"/>
            <a:r>
              <a:rPr lang="en-US" sz="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8B6AA9-AB05-21A9-4952-DB64DEEEBE51}"/>
              </a:ext>
            </a:extLst>
          </p:cNvPr>
          <p:cNvSpPr txBox="1"/>
          <p:nvPr/>
        </p:nvSpPr>
        <p:spPr>
          <a:xfrm>
            <a:off x="56079" y="6691886"/>
            <a:ext cx="1294273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C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freeze </a:t>
            </a:r>
            <a:r>
              <a:rPr lang="en-CA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YAMNet</a:t>
            </a:r>
            <a:r>
              <a:rPr lang="en-C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’s AudioSet-trained features, </a:t>
            </a:r>
            <a:r>
              <a:rPr lang="en-CA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lightweight heads on GTZAN</a:t>
            </a:r>
            <a:r>
              <a:rPr lang="en-C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CA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them to ESC-50 animal sounds </a:t>
            </a:r>
            <a:r>
              <a:rPr lang="en-C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zero-shot, 5-shot, and full fine-tune regimes to see how many labels are needed for reliable wildlife recognition.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Picture 33" descr="A comparison of a graph&#10;&#10;AI-generated content may be incorrect.">
            <a:extLst>
              <a:ext uri="{FF2B5EF4-FFF2-40B4-BE49-F238E27FC236}">
                <a16:creationId xmlns:a16="http://schemas.microsoft.com/office/drawing/2014/main" id="{03D07493-9657-5233-7D34-305AE10978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9904" y="9581803"/>
            <a:ext cx="10015802" cy="36685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AACB451-71CE-2FC3-B18D-B0C25D1A7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8581" y="4293306"/>
            <a:ext cx="8603453" cy="617573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algn="ctr" defTabSz="3135999"/>
            <a:r>
              <a:rPr lang="en-US" sz="3800" dirty="0">
                <a:solidFill>
                  <a:schemeClr val="bg1"/>
                </a:solidFill>
                <a:latin typeface="Apple Braille" pitchFamily="2" charset="0"/>
              </a:rPr>
              <a:t>Conclusion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16351AD-B008-8D27-9390-89AFC94CF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2329" y="4293306"/>
            <a:ext cx="13082831" cy="617573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algn="ctr" defTabSz="3135999"/>
            <a:r>
              <a:rPr lang="en-US" sz="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Motivation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70DCD183-CB64-416B-D789-C690B02E6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25704" y="4293306"/>
            <a:ext cx="11302877" cy="617573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algn="ctr" defTabSz="3135999"/>
            <a:r>
              <a:rPr lang="en-US" sz="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 Protocol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3B5BD9-AF7D-644F-1303-CF9B0AB7B0B0}"/>
              </a:ext>
            </a:extLst>
          </p:cNvPr>
          <p:cNvSpPr txBox="1"/>
          <p:nvPr/>
        </p:nvSpPr>
        <p:spPr>
          <a:xfrm>
            <a:off x="119874" y="19570384"/>
            <a:ext cx="130320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defRPr sz="3000" b="1">
                <a:latin typeface="Apple Braille" pitchFamily="2" charset="0"/>
              </a:defRPr>
            </a:lvl1pPr>
          </a:lstStyle>
          <a:p>
            <a:r>
              <a:rPr lang="en-CA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clip is resampled,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once with YAMNet </a:t>
            </a:r>
            <a:r>
              <a:rPr lang="en-CA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 cached 1024-D vector. Every transfer experiment reuses that same descriptor so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the classifier head and number of ESC-50 labels change.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ED4BFBF-FFB6-A324-43F4-77BCB5CAC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8580" y="13383197"/>
            <a:ext cx="8603453" cy="628862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algn="ctr" defTabSz="3135999"/>
            <a:r>
              <a:rPr lang="en-US" sz="3800" dirty="0">
                <a:solidFill>
                  <a:schemeClr val="bg1"/>
                </a:solidFill>
                <a:latin typeface="Apple Braille" pitchFamily="2" charset="0"/>
              </a:rPr>
              <a:t>Limitations &amp; Future Work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92D645-7634-E15D-5EF5-E29A8913A1E9}"/>
              </a:ext>
            </a:extLst>
          </p:cNvPr>
          <p:cNvSpPr txBox="1"/>
          <p:nvPr/>
        </p:nvSpPr>
        <p:spPr>
          <a:xfrm>
            <a:off x="316026" y="14103200"/>
            <a:ext cx="59417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LR: Linear Regression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NC: Nearest Centroid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SVM: Support Vector Machine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RF: Random Forest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MLP: Multi-Layer Perceptron (NN)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4E8094C-12C8-EE9E-C70B-61432BC62A62}"/>
              </a:ext>
            </a:extLst>
          </p:cNvPr>
          <p:cNvCxnSpPr/>
          <p:nvPr/>
        </p:nvCxnSpPr>
        <p:spPr bwMode="auto">
          <a:xfrm>
            <a:off x="119874" y="19454795"/>
            <a:ext cx="12930628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86AF1D7-1616-AA57-DDBE-70E04C6A3CA8}"/>
              </a:ext>
            </a:extLst>
          </p:cNvPr>
          <p:cNvSpPr txBox="1"/>
          <p:nvPr/>
        </p:nvSpPr>
        <p:spPr>
          <a:xfrm>
            <a:off x="13159225" y="4939536"/>
            <a:ext cx="3511153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CA" sz="27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Zero-shot</a:t>
            </a:r>
            <a:r>
              <a:rPr lang="en-CA" sz="27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train each classifier only on GTZAN embeddings, freeze it, and evaluate directly on the ESC-50 animal subset without seeing any target labels to measure domain transfer.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A73CF8B-2625-60CB-BE4F-1A07C8C573BB}"/>
              </a:ext>
            </a:extLst>
          </p:cNvPr>
          <p:cNvSpPr txBox="1"/>
          <p:nvPr/>
        </p:nvSpPr>
        <p:spPr>
          <a:xfrm>
            <a:off x="16779100" y="4939536"/>
            <a:ext cx="3422559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3000" b="1" i="0">
                <a:solidFill>
                  <a:srgbClr val="3B3B3B"/>
                </a:solidFill>
                <a:effectLst/>
                <a:latin typeface="-apple-system"/>
              </a:defRPr>
            </a:lvl1pPr>
          </a:lstStyle>
          <a:p>
            <a:r>
              <a:rPr lang="en-CA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Few-shot (k=5/class): </a:t>
            </a:r>
            <a:r>
              <a:rPr lang="en-CA" sz="2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5 labeled ESC-50 clips per class (~250 total), adapt the GTZAN-tuned head using those examples, and test on the full ESC-50 holdout to gauge label efficiency.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BB5414E-0660-3368-A059-159D0FC85E05}"/>
              </a:ext>
            </a:extLst>
          </p:cNvPr>
          <p:cNvSpPr txBox="1"/>
          <p:nvPr/>
        </p:nvSpPr>
        <p:spPr>
          <a:xfrm>
            <a:off x="20525766" y="4939536"/>
            <a:ext cx="3689351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3000" b="1" i="0">
                <a:solidFill>
                  <a:srgbClr val="3B3B3B"/>
                </a:solidFill>
                <a:effectLst/>
                <a:latin typeface="-apple-system"/>
              </a:defRPr>
            </a:lvl1pPr>
          </a:lstStyle>
          <a:p>
            <a:r>
              <a:rPr lang="en-CA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fine-tune: </a:t>
            </a:r>
            <a:r>
              <a:rPr lang="en-CA" sz="2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a stratified train/val/test split on ESC-50 embeddings, perform limited hyperparameter sweeps, report the best model per head as upper bound when adequate labels are available.</a:t>
            </a:r>
            <a:endParaRPr lang="en-CA" sz="2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2" name="Picture 61" descr="A diagram of a line&#10;&#10;AI-generated content may be incorrect.">
            <a:extLst>
              <a:ext uri="{FF2B5EF4-FFF2-40B4-BE49-F238E27FC236}">
                <a16:creationId xmlns:a16="http://schemas.microsoft.com/office/drawing/2014/main" id="{E56096B8-842F-C3E5-07B0-310DDA4BC2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020"/>
          <a:stretch>
            <a:fillRect/>
          </a:stretch>
        </p:blipFill>
        <p:spPr>
          <a:xfrm>
            <a:off x="13234615" y="13375610"/>
            <a:ext cx="3420724" cy="3482688"/>
          </a:xfrm>
          <a:prstGeom prst="rect">
            <a:avLst/>
          </a:prstGeom>
        </p:spPr>
      </p:pic>
      <p:sp>
        <p:nvSpPr>
          <p:cNvPr id="11" name="Rectangle 5">
            <a:extLst>
              <a:ext uri="{FF2B5EF4-FFF2-40B4-BE49-F238E27FC236}">
                <a16:creationId xmlns:a16="http://schemas.microsoft.com/office/drawing/2014/main" id="{CDF8F242-D0FE-3E0B-50CC-52275C65B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6145" y="16643331"/>
            <a:ext cx="13198043" cy="710631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algn="ctr" defTabSz="3135999"/>
            <a:r>
              <a:rPr lang="en-US" sz="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and Embeddings</a:t>
            </a:r>
          </a:p>
        </p:txBody>
      </p:sp>
      <p:pic>
        <p:nvPicPr>
          <p:cNvPr id="7" name="Picture 6" descr="A blue bird sitting on a branch&#10;&#10;AI-generated content may be incorrect.">
            <a:extLst>
              <a:ext uri="{FF2B5EF4-FFF2-40B4-BE49-F238E27FC236}">
                <a16:creationId xmlns:a16="http://schemas.microsoft.com/office/drawing/2014/main" id="{39F46CAA-8CE2-E841-7DD9-9D9DF0FB3C88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5165" y="453332"/>
            <a:ext cx="6003235" cy="3845823"/>
          </a:xfrm>
          <a:prstGeom prst="rect">
            <a:avLst/>
          </a:prstGeom>
        </p:spPr>
      </p:pic>
      <p:pic>
        <p:nvPicPr>
          <p:cNvPr id="63" name="Picture 62" descr="A diagram of a line&#10;&#10;AI-generated content may be incorrect.">
            <a:extLst>
              <a:ext uri="{FF2B5EF4-FFF2-40B4-BE49-F238E27FC236}">
                <a16:creationId xmlns:a16="http://schemas.microsoft.com/office/drawing/2014/main" id="{A18B7D40-B1D6-37E6-0878-701239114E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14" r="36646"/>
          <a:stretch>
            <a:fillRect/>
          </a:stretch>
        </p:blipFill>
        <p:spPr>
          <a:xfrm>
            <a:off x="16693839" y="13375610"/>
            <a:ext cx="3593080" cy="3482688"/>
          </a:xfrm>
          <a:prstGeom prst="rect">
            <a:avLst/>
          </a:prstGeom>
        </p:spPr>
      </p:pic>
      <p:pic>
        <p:nvPicPr>
          <p:cNvPr id="192" name="Picture 191" descr="A diagram of a line&#10;&#10;AI-generated content may be incorrect.">
            <a:extLst>
              <a:ext uri="{FF2B5EF4-FFF2-40B4-BE49-F238E27FC236}">
                <a16:creationId xmlns:a16="http://schemas.microsoft.com/office/drawing/2014/main" id="{A99B2023-5BA7-A1A3-1B60-5A84E8A0D7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96"/>
          <a:stretch>
            <a:fillRect/>
          </a:stretch>
        </p:blipFill>
        <p:spPr>
          <a:xfrm>
            <a:off x="20325419" y="13375610"/>
            <a:ext cx="3907546" cy="3482688"/>
          </a:xfrm>
          <a:prstGeom prst="rect">
            <a:avLst/>
          </a:prstGeom>
        </p:spPr>
      </p:pic>
      <p:sp>
        <p:nvSpPr>
          <p:cNvPr id="195" name="TextBox 194">
            <a:extLst>
              <a:ext uri="{FF2B5EF4-FFF2-40B4-BE49-F238E27FC236}">
                <a16:creationId xmlns:a16="http://schemas.microsoft.com/office/drawing/2014/main" id="{DBEC9D23-E7F1-94C9-5E30-A00BEA5A15A5}"/>
              </a:ext>
            </a:extLst>
          </p:cNvPr>
          <p:cNvSpPr txBox="1"/>
          <p:nvPr/>
        </p:nvSpPr>
        <p:spPr>
          <a:xfrm>
            <a:off x="19688294" y="17091835"/>
            <a:ext cx="4709276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27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CA" sz="2900" dirty="0"/>
              <a:t>Random Forest </a:t>
            </a:r>
            <a:r>
              <a:rPr lang="en-CA" sz="2900" b="0" dirty="0"/>
              <a:t>and </a:t>
            </a:r>
            <a:r>
              <a:rPr lang="en-CA" sz="2900" dirty="0"/>
              <a:t>Logistic Regression </a:t>
            </a:r>
            <a:r>
              <a:rPr lang="en-CA" sz="2900" b="0" dirty="0"/>
              <a:t>heads reach ~0.86–0.88 macro-F1 after full ESC-50 fine-tuning, showing that </a:t>
            </a:r>
            <a:r>
              <a:rPr lang="en-CA" sz="2900" dirty="0"/>
              <a:t>frozen YAMNet embeddings + lightweight classifiers are sufficient for strong performance.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9E14CE26-EE34-B57B-4558-0A7DAC3B9369}"/>
              </a:ext>
            </a:extLst>
          </p:cNvPr>
          <p:cNvSpPr txBox="1"/>
          <p:nvPr/>
        </p:nvSpPr>
        <p:spPr>
          <a:xfrm>
            <a:off x="24498966" y="16309481"/>
            <a:ext cx="827213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27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CA" sz="3000" dirty="0"/>
              <a:t>Improvements could include </a:t>
            </a:r>
            <a:r>
              <a:rPr lang="en-CA" sz="3000" b="1" dirty="0"/>
              <a:t>testing other source corpora </a:t>
            </a:r>
            <a:r>
              <a:rPr lang="en-CA" sz="3000" dirty="0"/>
              <a:t>(AudioSet animal subsets, UrbanSound8K) for closer domain alignment, </a:t>
            </a:r>
            <a:r>
              <a:rPr lang="en-CA" sz="3000" b="1" dirty="0"/>
              <a:t>exploring semi-supervised label propagation </a:t>
            </a:r>
            <a:r>
              <a:rPr lang="en-CA" sz="3000" dirty="0"/>
              <a:t>on ESC-50, and </a:t>
            </a:r>
            <a:r>
              <a:rPr lang="en-CA" sz="3000" b="1" dirty="0"/>
              <a:t>benchmarking efficient heads </a:t>
            </a:r>
            <a:r>
              <a:rPr lang="en-CA" sz="3000" dirty="0"/>
              <a:t>(e.g., prototypical networks) for faster adaptation.</a:t>
            </a:r>
            <a:endParaRPr lang="en-US" sz="3000" dirty="0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DB991F51-C4E2-FBF2-D283-645574764D8D}"/>
              </a:ext>
            </a:extLst>
          </p:cNvPr>
          <p:cNvSpPr txBox="1"/>
          <p:nvPr/>
        </p:nvSpPr>
        <p:spPr>
          <a:xfrm>
            <a:off x="24493110" y="19652380"/>
            <a:ext cx="8455413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27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CA" sz="2300" b="1" dirty="0"/>
              <a:t>Acknowledgments</a:t>
            </a:r>
            <a:r>
              <a:rPr lang="en-CA" sz="2300" dirty="0"/>
              <a:t>: For ESC-50 (Piczak, 2015) and GTZAN (Tzanetakis &amp; Cook, 2002) datasets, and Sound Understanding in Google AI Perception for their work on AudioSet/YAMNet models.</a:t>
            </a:r>
            <a:endParaRPr lang="en-US" sz="2300" dirty="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08752C25-F9CB-A782-74BA-5D9DCEDDD9E7}"/>
              </a:ext>
            </a:extLst>
          </p:cNvPr>
          <p:cNvSpPr txBox="1"/>
          <p:nvPr/>
        </p:nvSpPr>
        <p:spPr>
          <a:xfrm>
            <a:off x="25478350" y="5086977"/>
            <a:ext cx="732017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29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CA" sz="3000" dirty="0"/>
              <a:t>Lighter Classifiers Outperform: </a:t>
            </a:r>
            <a:r>
              <a:rPr lang="en-CA" sz="3000" b="0" dirty="0"/>
              <a:t>Frozen YAMNet embeddings plus lightweight heads can deliver strong animal-sound recognition: zero-shot is weak, but even 5 labeled clips/class push macro-F1 above 0.6 and full ESC-50 fine-tuning exceeds 0.85.</a:t>
            </a:r>
            <a:endParaRPr lang="en-US" sz="3000" b="0" dirty="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76F78443-B183-C09F-4FDD-2190198E7BFB}"/>
              </a:ext>
            </a:extLst>
          </p:cNvPr>
          <p:cNvSpPr txBox="1"/>
          <p:nvPr/>
        </p:nvSpPr>
        <p:spPr>
          <a:xfrm>
            <a:off x="25478350" y="8132968"/>
            <a:ext cx="73201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29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CA" sz="3000" dirty="0"/>
              <a:t>Label-efficiency Insight: </a:t>
            </a:r>
            <a:r>
              <a:rPr lang="en-CA" sz="3000" b="0" dirty="0"/>
              <a:t>With only ~250 labeled samples the models already become useful, making this pipeline attractive for wildlife projects with scarce annotations.</a:t>
            </a:r>
            <a:endParaRPr lang="en-US" sz="3000" dirty="0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9FE9007C-C5F6-9776-7E4E-C9E88F7AF4FB}"/>
              </a:ext>
            </a:extLst>
          </p:cNvPr>
          <p:cNvSpPr txBox="1"/>
          <p:nvPr/>
        </p:nvSpPr>
        <p:spPr>
          <a:xfrm>
            <a:off x="25478350" y="10340851"/>
            <a:ext cx="732017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29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CA" sz="3000" dirty="0"/>
              <a:t>Benefits of Pretrained Models: </a:t>
            </a:r>
            <a:r>
              <a:rPr lang="en-CA" sz="3000" b="0" dirty="0"/>
              <a:t>Using pretrained audio embeddings and simple classifiers gives a fast, reproducible starting point, and future work can swap in richer source domains or semi-supervised techniques to push accuracy further.</a:t>
            </a:r>
            <a:endParaRPr lang="en-US" sz="3000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3E596D08-FF1F-49B5-9C4D-97655A78488B}"/>
              </a:ext>
            </a:extLst>
          </p:cNvPr>
          <p:cNvSpPr txBox="1"/>
          <p:nvPr/>
        </p:nvSpPr>
        <p:spPr>
          <a:xfrm>
            <a:off x="24493111" y="14191274"/>
            <a:ext cx="827213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C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experiments rely on a single frozen feature extractor (YAMNet) and two datasets, so </a:t>
            </a:r>
            <a:r>
              <a:rPr lang="en-CA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may not generalize to other animal sound distributions </a:t>
            </a:r>
            <a:r>
              <a:rPr lang="en-CA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benefit from end-to-end adaptation.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FF357E39-995E-77DF-AED0-0D14D77301A5}"/>
              </a:ext>
            </a:extLst>
          </p:cNvPr>
          <p:cNvSpPr/>
          <p:nvPr/>
        </p:nvSpPr>
        <p:spPr bwMode="auto">
          <a:xfrm>
            <a:off x="24432899" y="5139185"/>
            <a:ext cx="914400" cy="914400"/>
          </a:xfrm>
          <a:prstGeom prst="ellipse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/>
          <a:p>
            <a:pPr algn="ctr" defTabSz="3135999"/>
            <a:r>
              <a:rPr lang="en-US" sz="3800" dirty="0">
                <a:solidFill>
                  <a:schemeClr val="bg1"/>
                </a:solidFill>
                <a:latin typeface="Apple Braille" pitchFamily="2" charset="0"/>
              </a:rPr>
              <a:t>1</a:t>
            </a:r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4165CAF3-3F76-89DF-C6AB-6729B481931E}"/>
              </a:ext>
            </a:extLst>
          </p:cNvPr>
          <p:cNvSpPr/>
          <p:nvPr/>
        </p:nvSpPr>
        <p:spPr bwMode="auto">
          <a:xfrm>
            <a:off x="24433831" y="8139202"/>
            <a:ext cx="914400" cy="914400"/>
          </a:xfrm>
          <a:prstGeom prst="ellipse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/>
          <a:p>
            <a:pPr algn="ctr" defTabSz="3135999"/>
            <a:r>
              <a:rPr lang="en-US" sz="3800" dirty="0">
                <a:solidFill>
                  <a:schemeClr val="bg1"/>
                </a:solidFill>
                <a:latin typeface="Apple Braille" pitchFamily="2" charset="0"/>
              </a:rPr>
              <a:t>2</a:t>
            </a:r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A75BC697-7382-D31B-93E9-6C8C36A942F5}"/>
              </a:ext>
            </a:extLst>
          </p:cNvPr>
          <p:cNvSpPr/>
          <p:nvPr/>
        </p:nvSpPr>
        <p:spPr bwMode="auto">
          <a:xfrm>
            <a:off x="24432899" y="10383180"/>
            <a:ext cx="914400" cy="914400"/>
          </a:xfrm>
          <a:prstGeom prst="ellipse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/>
          <a:p>
            <a:pPr algn="ctr" defTabSz="3135999"/>
            <a:r>
              <a:rPr lang="en-US" sz="3800" dirty="0">
                <a:solidFill>
                  <a:schemeClr val="bg1"/>
                </a:solidFill>
                <a:latin typeface="Apple Braille" pitchFamily="2" charset="0"/>
              </a:rPr>
              <a:t>3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conceptualizingcobalt|08-2022"/>
</p:tagLst>
</file>

<file path=ppt/theme/theme1.xml><?xml version="1.0" encoding="utf-8"?>
<a:theme xmlns:a="http://schemas.openxmlformats.org/drawingml/2006/main" name="Default Design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2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9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2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9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2554</TotalTime>
  <Words>567</Words>
  <Application>Microsoft Macintosh PowerPoint</Application>
  <PresentationFormat>Custom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Amaranth</vt:lpstr>
      <vt:lpstr>Times New Roman</vt:lpstr>
      <vt:lpstr>Apple Braille</vt:lpstr>
      <vt:lpstr>Default Design</vt:lpstr>
      <vt:lpstr>PowerPoint Presentation</vt:lpstr>
    </vt:vector>
  </TitlesOfParts>
  <Company>Graphicsland/MAKESIGNS.COM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to create a scientific poster</dc:title>
  <dc:subject>Example Of A Sample Research Poster</dc:subject>
  <dc:creator>Graphicsland/MakeSigns.com</dc:creator>
  <cp:keywords>scientific, research, template, custom, poster, presentation, symposium, printing, PowerPoint, create, design, example, sample, download</cp:keywords>
  <dc:description>Download our scientific poster templates at no cost to you and get one step closer to making a great research poster.</dc:description>
  <cp:lastModifiedBy>Oyku Cildir</cp:lastModifiedBy>
  <cp:revision>42</cp:revision>
  <dcterms:modified xsi:type="dcterms:W3CDTF">2025-11-25T23:10:22Z</dcterms:modified>
  <cp:category>scientific poster PowerPoint</cp:category>
</cp:coreProperties>
</file>